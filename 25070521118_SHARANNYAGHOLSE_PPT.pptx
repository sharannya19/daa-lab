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cb6aaad-11bd-f191-20a4-874b822ca7fd}">
          <p14:sldIdLst>
            <p14:sldId id="256"/>
          </p14:sldIdLst>
        </p14:section>
        <p14:section name="Problem" id="{6df84c7a-25db-7356-2485-9a9f60555961}">
          <p14:sldIdLst>
            <p14:sldId id="257"/>
            <p14:sldId id="258"/>
          </p14:sldIdLst>
        </p14:section>
        <p14:section name="Problem" id="{ed2ea7cb-c3a8-4a0e-3213-3eea0a6f177d}">
          <p14:sldIdLst/>
        </p14:section>
        <p14:section name="Algorithm" id="{f49ffd4a-4dce-42b4-6d91-3e12ee9b1cd9}">
          <p14:sldIdLst>
            <p14:sldId id="259"/>
          </p14:sldIdLst>
        </p14:section>
        <p14:section name="Driver code" id="{a6ee362f-d2a8-6919-4c8b-6c816ced3311}">
          <p14:sldIdLst>
            <p14:sldId id="260"/>
            <p14:sldId id="261"/>
            <p14:sldId id="262"/>
            <p14:sldId id="263"/>
          </p14:sldIdLst>
        </p14:section>
        <p14:section name="Driver code" id="{fde89f06-5220-c3ff-b66d-88747d0b7c7f}">
          <p14:sldIdLst/>
        </p14:section>
        <p14:section name="Driver code" id="{f9b50c1b-ba78-7fa1-5ba3-0fa50f151d65}">
          <p14:sldIdLst/>
        </p14:section>
        <p14:section name="Driver code" id="{92429a5d-6760-dd5b-f98b-a1afaaccc611}">
          <p14:sldIdLst/>
        </p14:section>
        <p14:section name="Solution" id="{58ed2f9b-134e-6e46-f9f0-2300755630a2}">
          <p14:sldIdLst>
            <p14:sldId id="264"/>
          </p14:sldIdLst>
        </p14:section>
        <p14:section name="Wrap-up" id="{273b93a3-0e82-5fab-b113-70592eb8eb3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walks through everything visible in the CodeTantra screenshot: the problem statement, the driver code that is provided, and the part you must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an array, print it, sort it with Quick Sort, print it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has two lines: original array, then sorted array. n is at most 1000.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 and conquer. After partition the pivot is in its final sorted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Pointers are needed so the function changes the caller's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Lomuto partition scheme. i marks the end of the 'smaller than pivot' zone. At the end the pivot is swapped into position i+1.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 10 7 8 9 1 5, pivot = 5. Only 1 is smaller than 5, so only one swap happens in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is the pivot index. Sort left of pi and right of pi. The base case is implicit: if low &gt;= high, nothing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the original array BEFORE sorting, then call quickSort(arr, 0, n-1), then print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Worst case happens on already-sorted input with last-element pivot, but n ≤ 1000 so it is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Quick Sort in C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CodeTantra problem 1.1.1 – explained step by step</a:t>
            </a:r>
            <a:endParaRPr lang="en-US" sz="2000" dirty="0"/>
          </a:p>
        </p:txBody>
      </p:sp>
      <p:sp>
        <p:nvSpPr>
          <p:cNvPr id="4" name="agenda"/>
          <p:cNvSpPr txBox="1"/>
          <p:nvPr/>
        </p:nvSpPr>
        <p:spPr>
          <a:xfrm>
            <a:off x="6400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Problem • Driver code • Partition • Recursion • Complete solution • Complexity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1. The problem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822960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ask"/>
          <p:cNvSpPr txBox="1"/>
          <p:nvPr/>
        </p:nvSpPr>
        <p:spPr>
          <a:xfrm>
            <a:off x="685800" y="128016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Task: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a program that sorts an array of length n using the Quick Sort algorithm. It must read the elements and print the array before and after sorting.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269748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chip label"/>
          <p:cNvSpPr txBox="1"/>
          <p:nvPr/>
        </p:nvSpPr>
        <p:spPr>
          <a:xfrm>
            <a:off x="64008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Language</a:t>
            </a:r>
            <a:endParaRPr lang="en-US" sz="1300" dirty="0"/>
          </a:p>
        </p:txBody>
      </p:sp>
      <p:sp>
        <p:nvSpPr>
          <p:cNvPr id="8" name="chip value"/>
          <p:cNvSpPr txBox="1"/>
          <p:nvPr/>
        </p:nvSpPr>
        <p:spPr>
          <a:xfrm>
            <a:off x="64008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 (stdio.h)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3246120" y="269748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chip label"/>
          <p:cNvSpPr txBox="1"/>
          <p:nvPr/>
        </p:nvSpPr>
        <p:spPr>
          <a:xfrm>
            <a:off x="342900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Algorithm</a:t>
            </a:r>
            <a:endParaRPr lang="en-US" sz="1300" dirty="0"/>
          </a:p>
        </p:txBody>
      </p:sp>
      <p:sp>
        <p:nvSpPr>
          <p:cNvPr id="11" name="chip value"/>
          <p:cNvSpPr txBox="1"/>
          <p:nvPr/>
        </p:nvSpPr>
        <p:spPr>
          <a:xfrm>
            <a:off x="342900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Quick Sort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6035040" y="2697480"/>
            <a:ext cx="26517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chip label"/>
          <p:cNvSpPr txBox="1"/>
          <p:nvPr/>
        </p:nvSpPr>
        <p:spPr>
          <a:xfrm>
            <a:off x="621792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Your job</a:t>
            </a:r>
            <a:endParaRPr lang="en-US" sz="1300" dirty="0"/>
          </a:p>
        </p:txBody>
      </p:sp>
      <p:sp>
        <p:nvSpPr>
          <p:cNvPr id="14" name="chip value"/>
          <p:cNvSpPr txBox="1"/>
          <p:nvPr/>
        </p:nvSpPr>
        <p:spPr>
          <a:xfrm>
            <a:off x="621792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Complete the driver code</a:t>
            </a:r>
            <a:endParaRPr lang="en-US" sz="1800" dirty="0"/>
          </a:p>
        </p:txBody>
      </p:sp>
      <p:sp>
        <p:nvSpPr>
          <p:cNvPr id="15" name="note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Note from the page: the driver code is already provided – you complete the code that performs Quick Sort correctly.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2. Input, output &amp; constraints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26517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accent bar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label"/>
          <p:cNvSpPr txBox="1"/>
          <p:nvPr/>
        </p:nvSpPr>
        <p:spPr>
          <a:xfrm>
            <a:off x="64008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Input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640080" y="17830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Line 1: integer n (number of elements)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Line 2: n space-separated integers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517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accent bar"/>
          <p:cNvSpPr/>
          <p:nvPr/>
        </p:nvSpPr>
        <p:spPr>
          <a:xfrm>
            <a:off x="3246120" y="1188720"/>
            <a:ext cx="2651760" cy="731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label"/>
          <p:cNvSpPr txBox="1"/>
          <p:nvPr/>
        </p:nvSpPr>
        <p:spPr>
          <a:xfrm>
            <a:off x="342900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Output</a:t>
            </a:r>
            <a:endParaRPr lang="en-US" sz="1500" dirty="0"/>
          </a:p>
        </p:txBody>
      </p:sp>
      <p:sp>
        <p:nvSpPr>
          <p:cNvPr id="11" name="bullets"/>
          <p:cNvSpPr txBox="1"/>
          <p:nvPr/>
        </p:nvSpPr>
        <p:spPr>
          <a:xfrm>
            <a:off x="3429000" y="17830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Line 1: original array, space-separated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Line 2: array after sorting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6035040" y="1188720"/>
            <a:ext cx="26517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accent bar"/>
          <p:cNvSpPr/>
          <p:nvPr/>
        </p:nvSpPr>
        <p:spPr>
          <a:xfrm>
            <a:off x="6035040" y="1188720"/>
            <a:ext cx="2651760" cy="731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label"/>
          <p:cNvSpPr txBox="1"/>
          <p:nvPr/>
        </p:nvSpPr>
        <p:spPr>
          <a:xfrm>
            <a:off x="621792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Constraints</a:t>
            </a:r>
            <a:endParaRPr lang="en-US" sz="1500" dirty="0"/>
          </a:p>
        </p:txBody>
      </p:sp>
      <p:sp>
        <p:nvSpPr>
          <p:cNvPr id="15" name="bullets"/>
          <p:cNvSpPr txBox="1"/>
          <p:nvPr/>
        </p:nvSpPr>
        <p:spPr>
          <a:xfrm>
            <a:off x="6217920" y="17830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 ≤ n ≤ 1000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 an array of size 1000 is enough</a:t>
            </a:r>
            <a:endParaRPr lang="en-US" sz="1300" dirty="0"/>
          </a:p>
        </p:txBody>
      </p:sp>
      <p:sp>
        <p:nvSpPr>
          <p:cNvPr id="16" name="ex label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Example (my own, for illustration)</a:t>
            </a:r>
            <a:endParaRPr lang="en-US" sz="1300" dirty="0"/>
          </a:p>
        </p:txBody>
      </p:sp>
      <p:sp>
        <p:nvSpPr>
          <p:cNvPr id="17" name="code box"/>
          <p:cNvSpPr/>
          <p:nvPr/>
        </p:nvSpPr>
        <p:spPr>
          <a:xfrm>
            <a:off x="457200" y="374904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/>
        </p:spPr>
      </p:sp>
      <p:sp>
        <p:nvSpPr>
          <p:cNvPr id="18" name="code"/>
          <p:cNvSpPr txBox="1"/>
          <p:nvPr/>
        </p:nvSpPr>
        <p:spPr>
          <a:xfrm>
            <a:off x="594360" y="38404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4 2 9 1 5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 4 2 9 1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1 2 4 5 9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3. How Quick Sort works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badge num"/>
          <p:cNvSpPr txBox="1"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tep title"/>
          <p:cNvSpPr txBox="1"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Pick a pivot</a:t>
            </a:r>
            <a:endParaRPr lang="en-US" sz="1800" dirty="0"/>
          </a:p>
        </p:txBody>
      </p:sp>
      <p:sp>
        <p:nvSpPr>
          <p:cNvPr id="8" name="step text"/>
          <p:cNvSpPr txBox="1"/>
          <p:nvPr/>
        </p:nvSpPr>
        <p:spPr>
          <a:xfrm>
            <a:off x="64008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Here: the last element, arr[high]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246120" y="128016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342900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badge num"/>
          <p:cNvSpPr txBox="1"/>
          <p:nvPr/>
        </p:nvSpPr>
        <p:spPr>
          <a:xfrm>
            <a:off x="34290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tep title"/>
          <p:cNvSpPr txBox="1"/>
          <p:nvPr/>
        </p:nvSpPr>
        <p:spPr>
          <a:xfrm>
            <a:off x="34290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Partition</a:t>
            </a:r>
            <a:endParaRPr lang="en-US" sz="1800" dirty="0"/>
          </a:p>
        </p:txBody>
      </p:sp>
      <p:sp>
        <p:nvSpPr>
          <p:cNvPr id="13" name="step text"/>
          <p:cNvSpPr txBox="1"/>
          <p:nvPr/>
        </p:nvSpPr>
        <p:spPr>
          <a:xfrm>
            <a:off x="342900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Smaller values go left of the pivot, larger go right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6035040" y="128016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5" name="badge"/>
          <p:cNvSpPr/>
          <p:nvPr/>
        </p:nvSpPr>
        <p:spPr>
          <a:xfrm>
            <a:off x="621792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badge num"/>
          <p:cNvSpPr txBox="1"/>
          <p:nvPr/>
        </p:nvSpPr>
        <p:spPr>
          <a:xfrm>
            <a:off x="62179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tep title"/>
          <p:cNvSpPr txBox="1"/>
          <p:nvPr/>
        </p:nvSpPr>
        <p:spPr>
          <a:xfrm>
            <a:off x="62179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Recurse</a:t>
            </a:r>
            <a:endParaRPr lang="en-US" sz="1800" dirty="0"/>
          </a:p>
        </p:txBody>
      </p:sp>
      <p:sp>
        <p:nvSpPr>
          <p:cNvPr id="18" name="step text"/>
          <p:cNvSpPr txBox="1"/>
          <p:nvPr/>
        </p:nvSpPr>
        <p:spPr>
          <a:xfrm>
            <a:off x="621792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Apply the same steps to left and right parts</a:t>
            </a:r>
            <a:endParaRPr lang="en-US" sz="1300" dirty="0"/>
          </a:p>
        </p:txBody>
      </p:sp>
      <p:sp>
        <p:nvSpPr>
          <p:cNvPr id="19" name="summary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Divide and conquer: sort small parts, and the whole array ends up sorted. Recursion stops when a part has 0 or 1 element (low ≥ high).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4. Driver code: swap()</a:t>
            </a:r>
            <a:endParaRPr lang="en-US" sz="2600" dirty="0"/>
          </a:p>
        </p:txBody>
      </p:sp>
      <p:sp>
        <p:nvSpPr>
          <p:cNvPr id="4" name="code box"/>
          <p:cNvSpPr/>
          <p:nvPr/>
        </p:nvSpPr>
        <p:spPr>
          <a:xfrm>
            <a:off x="457200" y="1188720"/>
            <a:ext cx="4206240" cy="21945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594360" y="128016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swap(int *a, int *b)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temp = *a;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*a = *b;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*b = temp;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label"/>
          <p:cNvSpPr txBox="1"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What it does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4937760" y="160020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Exchanges two integers using pointers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temp holds *a so it is not lost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Called as swap(&amp;arr[i], &amp;arr[j])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Used by partition() to move elements</a:t>
            </a:r>
            <a:endParaRPr lang="en-US" sz="1400" dirty="0"/>
          </a:p>
        </p:txBody>
      </p:sp>
      <p:sp>
        <p:nvSpPr>
          <p:cNvPr id="8" name="note"/>
          <p:cNvSpPr txBox="1"/>
          <p:nvPr/>
        </p:nvSpPr>
        <p:spPr>
          <a:xfrm>
            <a:off x="457200" y="3657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#include &lt;stdio.h&gt; gives scanf and printf for input and output.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5. Driver code: partition()</a:t>
            </a:r>
            <a:endParaRPr lang="en-US" sz="2600" dirty="0"/>
          </a:p>
        </p:txBody>
      </p:sp>
      <p:sp>
        <p:nvSpPr>
          <p:cNvPr id="4" name="code box"/>
          <p:cNvSpPr/>
          <p:nvPr/>
        </p:nvSpPr>
        <p:spPr>
          <a:xfrm>
            <a:off x="457200" y="1143000"/>
            <a:ext cx="4754880" cy="3611880"/>
          </a:xfrm>
          <a:prstGeom prst="roundRect">
            <a:avLst>
              <a:gd name="adj" fmla="val 2025"/>
            </a:avLst>
          </a:prstGeom>
          <a:solidFill>
            <a:schemeClr val="tx1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594360" y="1234440"/>
            <a:ext cx="44805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partition(int arr[], int low, int high)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pivot = arr[high];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 = low - 1;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low; j &lt; high; j++)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(arr[j] &lt; pivot)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i++;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swap(&amp;arr[i], &amp;arr[j]);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swap(&amp;arr[i + 1], &amp;arr[high]);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 + 1;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label"/>
          <p:cNvSpPr txBox="1"/>
          <p:nvPr/>
        </p:nvSpPr>
        <p:spPr>
          <a:xfrm>
            <a:off x="544068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Line by line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5440680" y="15544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pivot = last element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 = low - 1: no small element yet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 scans low … high-1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If arr[j] &lt; pivot: i++, swap into the small zone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Finally put pivot at i+1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Return the pivot's final index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6. Partition traced on an example</a:t>
            </a:r>
            <a:endParaRPr lang="en-US" sz="2600" dirty="0"/>
          </a:p>
        </p:txBody>
      </p:sp>
      <p:sp>
        <p:nvSpPr>
          <p:cNvPr id="4" name="row label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Start (pivot = 5)</a:t>
            </a:r>
            <a:endParaRPr lang="en-US" sz="1300" dirty="0"/>
          </a:p>
        </p:txBody>
      </p:sp>
      <p:sp>
        <p:nvSpPr>
          <p:cNvPr id="5" name="cell"/>
          <p:cNvSpPr/>
          <p:nvPr/>
        </p:nvSpPr>
        <p:spPr>
          <a:xfrm>
            <a:off x="457200" y="1508760"/>
            <a:ext cx="64008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cell value"/>
          <p:cNvSpPr txBox="1"/>
          <p:nvPr/>
        </p:nvSpPr>
        <p:spPr>
          <a:xfrm>
            <a:off x="457200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10</a:t>
            </a:r>
            <a:endParaRPr lang="en-US" sz="1600" dirty="0"/>
          </a:p>
        </p:txBody>
      </p:sp>
      <p:sp>
        <p:nvSpPr>
          <p:cNvPr id="7" name="cell"/>
          <p:cNvSpPr/>
          <p:nvPr/>
        </p:nvSpPr>
        <p:spPr>
          <a:xfrm>
            <a:off x="1188720" y="1508760"/>
            <a:ext cx="64008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cell value"/>
          <p:cNvSpPr txBox="1"/>
          <p:nvPr/>
        </p:nvSpPr>
        <p:spPr>
          <a:xfrm>
            <a:off x="1188720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7</a:t>
            </a:r>
            <a:endParaRPr lang="en-US" sz="1600" dirty="0"/>
          </a:p>
        </p:txBody>
      </p:sp>
      <p:sp>
        <p:nvSpPr>
          <p:cNvPr id="9" name="cell"/>
          <p:cNvSpPr/>
          <p:nvPr/>
        </p:nvSpPr>
        <p:spPr>
          <a:xfrm>
            <a:off x="1920240" y="1508760"/>
            <a:ext cx="64008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cell value"/>
          <p:cNvSpPr txBox="1"/>
          <p:nvPr/>
        </p:nvSpPr>
        <p:spPr>
          <a:xfrm>
            <a:off x="1920240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</a:t>
            </a:r>
            <a:endParaRPr lang="en-US" sz="1600" dirty="0"/>
          </a:p>
        </p:txBody>
      </p:sp>
      <p:sp>
        <p:nvSpPr>
          <p:cNvPr id="11" name="cell"/>
          <p:cNvSpPr/>
          <p:nvPr/>
        </p:nvSpPr>
        <p:spPr>
          <a:xfrm>
            <a:off x="2651760" y="1508760"/>
            <a:ext cx="64008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cell value"/>
          <p:cNvSpPr txBox="1"/>
          <p:nvPr/>
        </p:nvSpPr>
        <p:spPr>
          <a:xfrm>
            <a:off x="2651760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9</a:t>
            </a:r>
            <a:endParaRPr lang="en-US" sz="1600" dirty="0"/>
          </a:p>
        </p:txBody>
      </p:sp>
      <p:sp>
        <p:nvSpPr>
          <p:cNvPr id="13" name="cell"/>
          <p:cNvSpPr/>
          <p:nvPr/>
        </p:nvSpPr>
        <p:spPr>
          <a:xfrm>
            <a:off x="3383280" y="1508760"/>
            <a:ext cx="64008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cell value"/>
          <p:cNvSpPr txBox="1"/>
          <p:nvPr/>
        </p:nvSpPr>
        <p:spPr>
          <a:xfrm>
            <a:off x="3383280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cell"/>
          <p:cNvSpPr/>
          <p:nvPr/>
        </p:nvSpPr>
        <p:spPr>
          <a:xfrm>
            <a:off x="4114800" y="1508760"/>
            <a:ext cx="640080" cy="54864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cell value"/>
          <p:cNvSpPr txBox="1"/>
          <p:nvPr/>
        </p:nvSpPr>
        <p:spPr>
          <a:xfrm>
            <a:off x="4114800" y="1508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row label"/>
          <p:cNvSpPr txBox="1"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j=4: 1 &lt; 5 → i=0, swap arr[0], arr[4]</a:t>
            </a:r>
            <a:endParaRPr lang="en-US" sz="1300" dirty="0"/>
          </a:p>
        </p:txBody>
      </p:sp>
      <p:sp>
        <p:nvSpPr>
          <p:cNvPr id="18" name="cell"/>
          <p:cNvSpPr/>
          <p:nvPr/>
        </p:nvSpPr>
        <p:spPr>
          <a:xfrm>
            <a:off x="457200" y="2606040"/>
            <a:ext cx="640080" cy="54864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cell value"/>
          <p:cNvSpPr txBox="1"/>
          <p:nvPr/>
        </p:nvSpPr>
        <p:spPr>
          <a:xfrm>
            <a:off x="457200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0" name="cell"/>
          <p:cNvSpPr/>
          <p:nvPr/>
        </p:nvSpPr>
        <p:spPr>
          <a:xfrm>
            <a:off x="1188720" y="2606040"/>
            <a:ext cx="64008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cell value"/>
          <p:cNvSpPr txBox="1"/>
          <p:nvPr/>
        </p:nvSpPr>
        <p:spPr>
          <a:xfrm>
            <a:off x="1188720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7</a:t>
            </a:r>
            <a:endParaRPr lang="en-US" sz="1600" dirty="0"/>
          </a:p>
        </p:txBody>
      </p:sp>
      <p:sp>
        <p:nvSpPr>
          <p:cNvPr id="22" name="cell"/>
          <p:cNvSpPr/>
          <p:nvPr/>
        </p:nvSpPr>
        <p:spPr>
          <a:xfrm>
            <a:off x="1920240" y="2606040"/>
            <a:ext cx="64008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cell value"/>
          <p:cNvSpPr txBox="1"/>
          <p:nvPr/>
        </p:nvSpPr>
        <p:spPr>
          <a:xfrm>
            <a:off x="1920240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</a:t>
            </a:r>
            <a:endParaRPr lang="en-US" sz="1600" dirty="0"/>
          </a:p>
        </p:txBody>
      </p:sp>
      <p:sp>
        <p:nvSpPr>
          <p:cNvPr id="24" name="cell"/>
          <p:cNvSpPr/>
          <p:nvPr/>
        </p:nvSpPr>
        <p:spPr>
          <a:xfrm>
            <a:off x="2651760" y="2606040"/>
            <a:ext cx="64008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cell value"/>
          <p:cNvSpPr txBox="1"/>
          <p:nvPr/>
        </p:nvSpPr>
        <p:spPr>
          <a:xfrm>
            <a:off x="2651760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9</a:t>
            </a:r>
            <a:endParaRPr lang="en-US" sz="1600" dirty="0"/>
          </a:p>
        </p:txBody>
      </p:sp>
      <p:sp>
        <p:nvSpPr>
          <p:cNvPr id="26" name="cell"/>
          <p:cNvSpPr/>
          <p:nvPr/>
        </p:nvSpPr>
        <p:spPr>
          <a:xfrm>
            <a:off x="3383280" y="2606040"/>
            <a:ext cx="64008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cell value"/>
          <p:cNvSpPr txBox="1"/>
          <p:nvPr/>
        </p:nvSpPr>
        <p:spPr>
          <a:xfrm>
            <a:off x="3383280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10</a:t>
            </a:r>
            <a:endParaRPr lang="en-US" sz="1600" dirty="0"/>
          </a:p>
        </p:txBody>
      </p:sp>
      <p:sp>
        <p:nvSpPr>
          <p:cNvPr id="28" name="cell"/>
          <p:cNvSpPr/>
          <p:nvPr/>
        </p:nvSpPr>
        <p:spPr>
          <a:xfrm>
            <a:off x="4114800" y="2606040"/>
            <a:ext cx="640080" cy="54864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cell value"/>
          <p:cNvSpPr txBox="1"/>
          <p:nvPr/>
        </p:nvSpPr>
        <p:spPr>
          <a:xfrm>
            <a:off x="4114800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row label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Final swap arr[i+1], arr[high]</a:t>
            </a:r>
            <a:endParaRPr lang="en-US" sz="1300" dirty="0"/>
          </a:p>
        </p:txBody>
      </p:sp>
      <p:sp>
        <p:nvSpPr>
          <p:cNvPr id="31" name="cell"/>
          <p:cNvSpPr/>
          <p:nvPr/>
        </p:nvSpPr>
        <p:spPr>
          <a:xfrm>
            <a:off x="457200" y="3703320"/>
            <a:ext cx="64008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2" name="cell value"/>
          <p:cNvSpPr txBox="1"/>
          <p:nvPr/>
        </p:nvSpPr>
        <p:spPr>
          <a:xfrm>
            <a:off x="457200" y="3703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33" name="cell"/>
          <p:cNvSpPr/>
          <p:nvPr/>
        </p:nvSpPr>
        <p:spPr>
          <a:xfrm>
            <a:off x="1188720" y="3703320"/>
            <a:ext cx="640080" cy="54864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cell value"/>
          <p:cNvSpPr txBox="1"/>
          <p:nvPr/>
        </p:nvSpPr>
        <p:spPr>
          <a:xfrm>
            <a:off x="1188720" y="3703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cell"/>
          <p:cNvSpPr/>
          <p:nvPr/>
        </p:nvSpPr>
        <p:spPr>
          <a:xfrm>
            <a:off x="1920240" y="3703320"/>
            <a:ext cx="64008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6" name="cell value"/>
          <p:cNvSpPr txBox="1"/>
          <p:nvPr/>
        </p:nvSpPr>
        <p:spPr>
          <a:xfrm>
            <a:off x="1920240" y="3703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</a:t>
            </a:r>
            <a:endParaRPr lang="en-US" sz="1600" dirty="0"/>
          </a:p>
        </p:txBody>
      </p:sp>
      <p:sp>
        <p:nvSpPr>
          <p:cNvPr id="37" name="cell"/>
          <p:cNvSpPr/>
          <p:nvPr/>
        </p:nvSpPr>
        <p:spPr>
          <a:xfrm>
            <a:off x="2651760" y="3703320"/>
            <a:ext cx="64008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8" name="cell value"/>
          <p:cNvSpPr txBox="1"/>
          <p:nvPr/>
        </p:nvSpPr>
        <p:spPr>
          <a:xfrm>
            <a:off x="2651760" y="3703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9</a:t>
            </a:r>
            <a:endParaRPr lang="en-US" sz="1600" dirty="0"/>
          </a:p>
        </p:txBody>
      </p:sp>
      <p:sp>
        <p:nvSpPr>
          <p:cNvPr id="39" name="cell"/>
          <p:cNvSpPr/>
          <p:nvPr/>
        </p:nvSpPr>
        <p:spPr>
          <a:xfrm>
            <a:off x="3383280" y="3703320"/>
            <a:ext cx="64008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0" name="cell value"/>
          <p:cNvSpPr txBox="1"/>
          <p:nvPr/>
        </p:nvSpPr>
        <p:spPr>
          <a:xfrm>
            <a:off x="3383280" y="3703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10</a:t>
            </a:r>
            <a:endParaRPr lang="en-US" sz="1600" dirty="0"/>
          </a:p>
        </p:txBody>
      </p:sp>
      <p:sp>
        <p:nvSpPr>
          <p:cNvPr id="41" name="cell"/>
          <p:cNvSpPr/>
          <p:nvPr/>
        </p:nvSpPr>
        <p:spPr>
          <a:xfrm>
            <a:off x="4114800" y="3703320"/>
            <a:ext cx="640080" cy="5486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2" name="cell value"/>
          <p:cNvSpPr txBox="1"/>
          <p:nvPr/>
        </p:nvSpPr>
        <p:spPr>
          <a:xfrm>
            <a:off x="4114800" y="3703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7</a:t>
            </a:r>
            <a:endParaRPr lang="en-US" sz="1600" dirty="0"/>
          </a:p>
        </p:txBody>
      </p:sp>
      <p:sp>
        <p:nvSpPr>
          <p:cNvPr id="43" name="card"/>
          <p:cNvSpPr/>
          <p:nvPr/>
        </p:nvSpPr>
        <p:spPr>
          <a:xfrm>
            <a:off x="5120640" y="1508760"/>
            <a:ext cx="356616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4" name="bullets"/>
          <p:cNvSpPr txBox="1"/>
          <p:nvPr/>
        </p:nvSpPr>
        <p:spPr>
          <a:xfrm>
            <a:off x="5303520" y="16916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Amber = pivot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Teal = element moved into the small zone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partition returns 1: pivot is now final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Left part: [1]. Right part: [8, 9, 10, 7]</a:t>
            </a:r>
            <a:endParaRPr lang="en-US" sz="1300" dirty="0"/>
          </a:p>
        </p:txBody>
      </p:sp>
      <p:sp>
        <p:nvSpPr>
          <p:cNvPr id="45" name="note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Pivot ends at index 1 – it will never move again.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7. Driver code: quickSort()</a:t>
            </a:r>
            <a:endParaRPr lang="en-US" sz="2600" dirty="0"/>
          </a:p>
        </p:txBody>
      </p:sp>
      <p:sp>
        <p:nvSpPr>
          <p:cNvPr id="4" name="code box"/>
          <p:cNvSpPr/>
          <p:nvPr/>
        </p:nvSpPr>
        <p:spPr>
          <a:xfrm>
            <a:off x="457200" y="1188720"/>
            <a:ext cx="4937760" cy="21945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594360" y="12801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quickSort(int arr[], int low, int high)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(low &lt; high)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pi = partition(arr, low, high);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quickSort(arr, low, pi - 1);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quickSort(arr, pi + 1, high);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label"/>
          <p:cNvSpPr txBox="1"/>
          <p:nvPr/>
        </p:nvSpPr>
        <p:spPr>
          <a:xfrm>
            <a:off x="566928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Recursion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5669280" y="160020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if (low &lt; high) is the base case guard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partition places the pivot at 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Sort left half: low … pi-1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Sort right half: pi+1 … high</a:t>
            </a:r>
            <a:endParaRPr lang="en-US" sz="1300" dirty="0"/>
          </a:p>
        </p:txBody>
      </p:sp>
      <p:sp>
        <p:nvSpPr>
          <p:cNvPr id="8" name="note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The screenshot shows a comment "// Complete the code..." right after this function – the remaining part is main().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8. What you complete: main()</a:t>
            </a:r>
            <a:endParaRPr lang="en-US" sz="2600" dirty="0"/>
          </a:p>
        </p:txBody>
      </p:sp>
      <p:sp>
        <p:nvSpPr>
          <p:cNvPr id="4" name="code box"/>
          <p:cNvSpPr/>
          <p:nvPr/>
        </p:nvSpPr>
        <p:spPr>
          <a:xfrm>
            <a:off x="457200" y="1143000"/>
            <a:ext cx="5120640" cy="3611880"/>
          </a:xfrm>
          <a:prstGeom prst="roundRect">
            <a:avLst>
              <a:gd name="adj" fmla="val 2025"/>
            </a:avLst>
          </a:prstGeom>
          <a:solidFill>
            <a:schemeClr val="tx1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594360" y="123444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n, arr[1000];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scanf("%d", &amp;n);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n; i++)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scanf("%d", &amp;arr[i]);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n; i++)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printf("%d ", arr[i]);   // original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printf("\n");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quickSort(arr, 0, n - 1);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n; i++)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printf("%d ", arr[i]);   // sorted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printf("\n");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label"/>
          <p:cNvSpPr txBox="1"/>
          <p:nvPr/>
        </p:nvSpPr>
        <p:spPr>
          <a:xfrm>
            <a:off x="580644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Steps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5806440" y="155448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Read n, then n integers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Print original array (line 1)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quickSort(arr, 0, n-1)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Print sorted array (line 2)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Match the output format exactly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9. Complexity &amp; key points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stat"/>
          <p:cNvSpPr txBox="1"/>
          <p:nvPr/>
        </p:nvSpPr>
        <p:spPr>
          <a:xfrm>
            <a:off x="640080" y="1280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O(n log n)</a:t>
            </a:r>
            <a:endParaRPr lang="en-US" sz="2800" dirty="0"/>
          </a:p>
        </p:txBody>
      </p:sp>
      <p:sp>
        <p:nvSpPr>
          <p:cNvPr id="6" name="stat label"/>
          <p:cNvSpPr txBox="1"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Best / average time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stat"/>
          <p:cNvSpPr txBox="1"/>
          <p:nvPr/>
        </p:nvSpPr>
        <p:spPr>
          <a:xfrm>
            <a:off x="3429000" y="1280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O(n²)</a:t>
            </a:r>
            <a:endParaRPr lang="en-US" sz="2800" dirty="0"/>
          </a:p>
        </p:txBody>
      </p:sp>
      <p:sp>
        <p:nvSpPr>
          <p:cNvPr id="9" name="stat label"/>
          <p:cNvSpPr txBox="1"/>
          <p:nvPr/>
        </p:nvSpPr>
        <p:spPr>
          <a:xfrm>
            <a:off x="342900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Worst time (sorted input)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6035040" y="1188720"/>
            <a:ext cx="265176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stat"/>
          <p:cNvSpPr txBox="1"/>
          <p:nvPr/>
        </p:nvSpPr>
        <p:spPr>
          <a:xfrm>
            <a:off x="6217920" y="1280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O(log n)</a:t>
            </a:r>
            <a:endParaRPr lang="en-US" sz="2800" dirty="0"/>
          </a:p>
        </p:txBody>
      </p:sp>
      <p:sp>
        <p:nvSpPr>
          <p:cNvPr id="12" name="stat label"/>
          <p:cNvSpPr txBox="1"/>
          <p:nvPr/>
        </p:nvSpPr>
        <p:spPr>
          <a:xfrm>
            <a:off x="621792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Extra space (recursion)</a:t>
            </a:r>
            <a:endParaRPr lang="en-US" sz="1300" dirty="0"/>
          </a:p>
        </p:txBody>
      </p:sp>
      <p:sp>
        <p:nvSpPr>
          <p:cNvPr id="13" name="label"/>
          <p:cNvSpPr txBox="1"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Remember</a:t>
            </a:r>
            <a:endParaRPr lang="en-US" sz="1500" dirty="0"/>
          </a:p>
        </p:txBody>
      </p:sp>
      <p:sp>
        <p:nvSpPr>
          <p:cNvPr id="14" name="bullets"/>
          <p:cNvSpPr txBox="1"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In-place sort: no extra array needed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stable: equal elements may change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Call with quickSort(arr, 0, n - 1) – last index, not 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Print a newline between the two output lines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ickSort">
  <a:themeElements>
    <a:clrScheme name="QuickSor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4B8A6"/>
      </a:accent1>
      <a:accent2>
        <a:srgbClr val="F59E0B"/>
      </a:accent2>
      <a:accent3>
        <a:srgbClr val="6366F1"/>
      </a:accent3>
      <a:accent4>
        <a:srgbClr val="EF4444"/>
      </a:accent4>
      <a:accent5>
        <a:srgbClr val="22C55E"/>
      </a:accent5>
      <a:accent6>
        <a:srgbClr val="64748B"/>
      </a:accent6>
      <a:hlink>
        <a:srgbClr val="14B8A6"/>
      </a:hlink>
      <a:folHlink>
        <a:srgbClr val="64748B"/>
      </a:folHlink>
    </a:clrScheme>
    <a:fontScheme name="QuickSor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Sort – CodeTantra 1.1.1 Explained</dc:title>
  <dc:subject>PptxGenJS Presentation</dc:subject>
  <dc:creator>PptxGenJS</dc:creator>
  <cp:lastModifiedBy>PptxGenJS</cp:lastModifiedBy>
  <cp:revision>1</cp:revision>
  <dcterms:created xsi:type="dcterms:W3CDTF">2026-10-19T16:58:03Z</dcterms:created>
  <dcterms:modified xsi:type="dcterms:W3CDTF">2026-10-19T16:58:03Z</dcterms:modified>
</cp:coreProperties>
</file>